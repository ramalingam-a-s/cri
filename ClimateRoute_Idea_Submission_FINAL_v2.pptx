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12192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mTIDMTlOXkhW/XgO8rYQcdrsy0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IC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7496C2-0CEE-4B0A-BE6E-AE1266184CF1}">
  <a:tblStyle styleId="{D47496C2-0CEE-4B0A-BE6E-AE1266184CF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font" Target="fonts/ArialBlack-regular.fntdata"/><Relationship Id="rId17" Type="http://customschemas.google.com/relationships/presentationmetadata" Target="meta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6T12:34:01.183">
    <p:pos x="6000" y="0"/>
    <p:text>&gt;&gt;Click on File 
&gt;&gt;&gt;&gt;Make a copy
&gt;&gt;&gt;&gt;&gt;&gt;Entire presentation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AWB6OJc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Cover: fill TRACK, PROJECT TITLE, ONE-LINE PITCH and TEAM names. Phone &amp; email for each member goes on the last slide, frame 09. Keep layout, colours &amp; logos as-is. RECURSION is TechnoVIT's flagship hackathon.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each question in 2–3 plain lines. Someone outside your track should understand every answer.</a:t>
            </a:r>
            <a:endParaRPr/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the product plainly. The three answers should connect directly back to the problems on frame 02.</a:t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placeholder flow with your real architecture diagram. Name real services and models, then answer the three questions.</a:t>
            </a:r>
            <a:endParaRPr/>
          </a:p>
        </p:txBody>
      </p:sp>
      <p:sp>
        <p:nvSpPr>
          <p:cNvPr id="134" name="Google Shape;13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honest about scope. A working slice with a known limit beats an over-promised demo.</a:t>
            </a:r>
            <a:endParaRPr/>
          </a:p>
        </p:txBody>
      </p:sp>
      <p:sp>
        <p:nvSpPr>
          <p:cNvPr id="182" name="Google Shape;18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 one primary metric. Show how it was measured — an estimate is fine if you show your working.</a:t>
            </a:r>
            <a:endParaRPr/>
          </a:p>
        </p:txBody>
      </p:sp>
      <p:sp>
        <p:nvSpPr>
          <p:cNvPr id="219" name="Google Shape;21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source per line — papers, repos, docs, datasets, model weights. Uncredited work is disqualifying.</a:t>
            </a:r>
            <a:endParaRPr/>
          </a:p>
        </p:txBody>
      </p:sp>
      <p:sp>
        <p:nvSpPr>
          <p:cNvPr id="260" name="Google Shape;26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 space: demo links, screenshots, GitHub, QR codes, anything extra that strengthens the submission. Delete the checklist sticker and the hint line once you're done.</a:t>
            </a:r>
            <a:endParaRPr/>
          </a:p>
        </p:txBody>
      </p:sp>
      <p:sp>
        <p:nvSpPr>
          <p:cNvPr id="279" name="Google Shape;27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every member's phone and email so organisers and judges can follow up after the round. This slide is for the submission file — remove it if presenting live on stage.</a:t>
            </a:r>
            <a:endParaRPr/>
          </a:p>
        </p:txBody>
      </p:sp>
      <p:sp>
        <p:nvSpPr>
          <p:cNvPr id="301" name="Google Shape;30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1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1"/>
          <p:cNvSpPr txBox="1"/>
          <p:nvPr/>
        </p:nvSpPr>
        <p:spPr>
          <a:xfrm>
            <a:off x="987552" y="329184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FLAGSHIP MIC HACKATHON OF TECHNOVIT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6400800" y="329184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IDEA SUBMISSION — TEMPLATE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914400"/>
            <a:ext cx="7543800" cy="120700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777240" y="960120"/>
            <a:ext cx="722376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800"/>
              <a:buFont typeface="Arial Black"/>
              <a:buNone/>
            </a:pPr>
            <a:r>
              <a:rPr b="0" i="0" lang="en-US" sz="68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RECURSION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 rot="-180000">
            <a:off x="8458200" y="1078992"/>
            <a:ext cx="1965960" cy="56692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 txBox="1"/>
          <p:nvPr/>
        </p:nvSpPr>
        <p:spPr>
          <a:xfrm rot="-180000">
            <a:off x="8458200" y="1088136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EDITION II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835640" y="896112"/>
            <a:ext cx="841248" cy="841248"/>
          </a:xfrm>
          <a:prstGeom prst="rect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" name="Google Shape;22;p1"/>
          <p:cNvCxnSpPr/>
          <p:nvPr/>
        </p:nvCxnSpPr>
        <p:spPr>
          <a:xfrm>
            <a:off x="11256264" y="896112"/>
            <a:ext cx="0" cy="841248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11256264" y="1316736"/>
            <a:ext cx="42062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1"/>
          <p:cNvCxnSpPr/>
          <p:nvPr/>
        </p:nvCxnSpPr>
        <p:spPr>
          <a:xfrm>
            <a:off x="11466576" y="1316736"/>
            <a:ext cx="0" cy="420624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"/>
          <p:cNvCxnSpPr/>
          <p:nvPr/>
        </p:nvCxnSpPr>
        <p:spPr>
          <a:xfrm>
            <a:off x="11466576" y="1527048"/>
            <a:ext cx="210312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 txBox="1"/>
          <p:nvPr/>
        </p:nvSpPr>
        <p:spPr>
          <a:xfrm>
            <a:off x="594360" y="239572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to understand recursion, first understand recursion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48640" y="2907792"/>
            <a:ext cx="7269480" cy="312724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96112" y="3218688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1115568" y="318211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PROJECT TITLE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896112" y="345643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 Black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ClimateRoute Intelligence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896112" y="404164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896112" y="4261104"/>
            <a:ext cx="128016" cy="128016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115568" y="42245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ONE-LINE PITCH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896112" y="4480560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 hyperlocal climate engine that predicts and explains multi-hazard risk along your specific travel route, continuously updating as conditions change.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1"/>
          <p:cNvCxnSpPr/>
          <p:nvPr/>
        </p:nvCxnSpPr>
        <p:spPr>
          <a:xfrm>
            <a:off x="896112" y="486460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1"/>
          <p:cNvSpPr/>
          <p:nvPr/>
        </p:nvSpPr>
        <p:spPr>
          <a:xfrm>
            <a:off x="896112" y="5084064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115568" y="504748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896112" y="5303520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Sustainability &amp; Climate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1"/>
          <p:cNvCxnSpPr/>
          <p:nvPr/>
        </p:nvCxnSpPr>
        <p:spPr>
          <a:xfrm>
            <a:off x="896112" y="577900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"/>
          <p:cNvSpPr/>
          <p:nvPr/>
        </p:nvSpPr>
        <p:spPr>
          <a:xfrm>
            <a:off x="8138160" y="2907792"/>
            <a:ext cx="3502152" cy="312724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 txBox="1"/>
          <p:nvPr/>
        </p:nvSpPr>
        <p:spPr>
          <a:xfrm>
            <a:off x="8430768" y="31272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8430768" y="334670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600"/>
              <a:buFont typeface="Arial Black"/>
              <a:buNone/>
            </a:pPr>
            <a:r>
              <a:rPr b="0" i="0" lang="en-US" sz="16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Aracnids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1"/>
          <p:cNvCxnSpPr/>
          <p:nvPr/>
        </p:nvCxnSpPr>
        <p:spPr>
          <a:xfrm>
            <a:off x="8430768" y="3822192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1"/>
          <p:cNvSpPr txBox="1"/>
          <p:nvPr/>
        </p:nvSpPr>
        <p:spPr>
          <a:xfrm>
            <a:off x="8430768" y="395020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Ramalingam A S (Team lead)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8430768" y="42519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Bharat R J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8430768" y="455371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Dayashankar M 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8430768" y="485546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R S Arjunkeshav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8430768" y="515721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S K Jegan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1"/>
          <p:cNvCxnSpPr/>
          <p:nvPr/>
        </p:nvCxnSpPr>
        <p:spPr>
          <a:xfrm>
            <a:off x="8430768" y="5541264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1"/>
          <p:cNvSpPr txBox="1"/>
          <p:nvPr/>
        </p:nvSpPr>
        <p:spPr>
          <a:xfrm>
            <a:off x="8430768" y="563270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full contact sheet → frame 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48640" y="6181344"/>
            <a:ext cx="5943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1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1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01 / 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b="0" i="0" lang="en-US" sz="17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" name="Google Shape;62;p2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2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2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</a:t>
            </a:r>
            <a:r>
              <a:rPr b="1" lang="en-US" sz="950">
                <a:solidFill>
                  <a:srgbClr val="111111"/>
                </a:solidFill>
              </a:rPr>
              <a:t>- </a:t>
            </a: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2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2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02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PROBLEM DEFINITION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answer in 2–3 lines · readable outside your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&amp; HOW OFTEN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822960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Residents, commuters, and disaster authorities face rapidly changing dangers (floods, heatwaves) during climate events, despite city-level warnings.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TODAY'S WORKAROUND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Users rely on district weather forecasts, static maps, and disconnected emergency reports, manually guessing if their specific route is safe.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FALLS SHORT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District warnings don't explain risk to specific travel routes. Fragmented data leads to monitoring without action, and conditions change faster than static response plans can handle.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EVIDENCE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"Warnings are too broad... Conditions change faster than response plans... maps may show danger without ranking... evacuation decisions" (Official Problem Statement PS2).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" name="Google Shape;98;p3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3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3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3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3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03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PROPOSED SOLUTION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name it plainly · connect straight back to frame 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8640" y="2057400"/>
            <a:ext cx="3931920" cy="404164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868680" y="2377440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PRODUCT / SYSTEM NAME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868680" y="2670048"/>
            <a:ext cx="3291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 Black"/>
              <a:buNone/>
            </a:pPr>
            <a:r>
              <a:rPr lang="en-US" sz="2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ClimateRoute Intelligence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868680" y="4069080"/>
            <a:ext cx="329184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"/>
          <p:cNvSpPr txBox="1"/>
          <p:nvPr/>
        </p:nvSpPr>
        <p:spPr>
          <a:xfrm>
            <a:off x="868680" y="425196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62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ClimateRoute is a multi-hazard intelligence platform that fuses broad weather forecasts with street-level terrain data to generate a time-aware risk profile for a specific travel route.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3"/>
          <p:cNvCxnSpPr/>
          <p:nvPr/>
        </p:nvCxnSpPr>
        <p:spPr>
          <a:xfrm>
            <a:off x="1060704" y="553212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3"/>
          <p:cNvCxnSpPr/>
          <p:nvPr/>
        </p:nvCxnSpPr>
        <p:spPr>
          <a:xfrm>
            <a:off x="1060704" y="5724144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3"/>
          <p:cNvSpPr/>
          <p:nvPr/>
        </p:nvSpPr>
        <p:spPr>
          <a:xfrm>
            <a:off x="4892040" y="2057400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148072" y="2295144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5148072" y="23042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669280" y="2313432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A USER DOES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5669280" y="2715768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1. Enters origin, destination, and departure time.
2. System retrieves environmental data and maps it to spatial route segments.
3. User views a time-aware, multi-hazard risk profile spanning their journey.
4. System provides an actionable recommendation.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892040" y="3465576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148072" y="3703320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5148072" y="37124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5669280" y="3721608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BEATS THE WORKAROUND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5669280" y="4123944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Current: Broad weather warning -&gt; user interprets risk -&gt; guesses safety of their route.
ClimateRoute: Multi-source environmental data -&gt; multi-hazard assessment per segment -&gt; time-aware risk profile -&gt; actionable recommendation.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892040" y="4873752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5148072" y="51114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148072" y="5120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5669280" y="5129784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WHAT'S GENUINELY DIFFERENT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5669280" y="5532120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A. Hyperlocal route segment profiling instead of city-wide warnings.
B. Time-aware profiling Risk(t) that forecasts how conditions will change during travel.
C. Action layer (recommending delays or caution) rather than just a static hazard map.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" name="Google Shape;137;p4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4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4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4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4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04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SYSTEM ARCHITECTURE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walk the full flow · name real services &amp; models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48640" y="1993392"/>
            <a:ext cx="11091672" cy="18105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841248" y="21945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FIG. 04-A — SYSTEM FLOW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421892" y="2542032"/>
            <a:ext cx="137160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" name="Google Shape;151;p4"/>
          <p:cNvCxnSpPr/>
          <p:nvPr/>
        </p:nvCxnSpPr>
        <p:spPr>
          <a:xfrm>
            <a:off x="2848356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p4"/>
          <p:cNvSpPr/>
          <p:nvPr/>
        </p:nvSpPr>
        <p:spPr>
          <a:xfrm>
            <a:off x="3140964" y="2542032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" name="Google Shape;154;p4"/>
          <p:cNvCxnSpPr/>
          <p:nvPr/>
        </p:nvCxnSpPr>
        <p:spPr>
          <a:xfrm>
            <a:off x="4613148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" name="Google Shape;155;p4"/>
          <p:cNvSpPr/>
          <p:nvPr/>
        </p:nvSpPr>
        <p:spPr>
          <a:xfrm>
            <a:off x="4905756" y="2542032"/>
            <a:ext cx="1783080" cy="56692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" name="Google Shape;157;p4"/>
          <p:cNvCxnSpPr/>
          <p:nvPr/>
        </p:nvCxnSpPr>
        <p:spPr>
          <a:xfrm>
            <a:off x="6743700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4"/>
          <p:cNvSpPr/>
          <p:nvPr/>
        </p:nvSpPr>
        <p:spPr>
          <a:xfrm>
            <a:off x="7036308" y="2542032"/>
            <a:ext cx="233172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" name="Google Shape;160;p4"/>
          <p:cNvCxnSpPr/>
          <p:nvPr/>
        </p:nvCxnSpPr>
        <p:spPr>
          <a:xfrm>
            <a:off x="9422892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4"/>
          <p:cNvSpPr/>
          <p:nvPr/>
        </p:nvSpPr>
        <p:spPr>
          <a:xfrm>
            <a:off x="9715500" y="2542032"/>
            <a:ext cx="105156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548640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804672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804672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1298448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KEY TECHNICAL DECISION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804672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We process multi-hazard risk using transparent, explainable heuristic models mapped to spatial route segments, avoiding unvalidated black-box ML.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4306824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4562856" y="4425696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4562856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5056632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HARDEST PART TO BUILD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4562856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Fusing broad weather forecasts with hyperlocal data (like elevation grids), and projecting that combined risk forward in time along a dynamic travel window.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8065008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8321040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8321040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8814816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 KNOW IT WORKS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8321040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Route successfully segments spatially.
Injected hazard accurately increases risk solely on affected segments.
Risk profile dynamically updates across the travel time window.
System correctly identifies the critical segment/time.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Down Arrow 187"/>
          <p:cNvSpPr/>
          <p:nvPr/>
        </p:nvSpPr>
        <p:spPr>
          <a:xfrm>
            <a:off x="11430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Down Arrow 188"/>
          <p:cNvSpPr/>
          <p:nvPr/>
        </p:nvSpPr>
        <p:spPr>
          <a:xfrm>
            <a:off x="29718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Down Arrow 189"/>
          <p:cNvSpPr/>
          <p:nvPr/>
        </p:nvSpPr>
        <p:spPr>
          <a:xfrm>
            <a:off x="48006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Down Arrow 190"/>
          <p:cNvSpPr/>
          <p:nvPr/>
        </p:nvSpPr>
        <p:spPr>
          <a:xfrm>
            <a:off x="66294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Down Arrow 191"/>
          <p:cNvSpPr/>
          <p:nvPr/>
        </p:nvSpPr>
        <p:spPr>
          <a:xfrm>
            <a:off x="2057400" y="251460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Down Arrow 192"/>
          <p:cNvSpPr/>
          <p:nvPr/>
        </p:nvSpPr>
        <p:spPr>
          <a:xfrm>
            <a:off x="3886200" y="251460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Down Arrow 193"/>
          <p:cNvSpPr/>
          <p:nvPr/>
        </p:nvSpPr>
        <p:spPr>
          <a:xfrm>
            <a:off x="5715000" y="251460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5" name="Picture 194" descr="media_17884358235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5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5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5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5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5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05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FEASIBILITY &amp; SCOPE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 working slice with a known limit beats an over-promised demo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SCOPE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822960" y="2889504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CORE PLATFORM: Multi-hazard route-risk intelligence. MVP DEMONSTRATION: Flood risk proof-of-concept with interactive scenario injector.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822960" y="3291840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Out: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Fully validated scientific forecasting, live IoT sensor networks, trained ML prediction model in MVP.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RUNNING COST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Free / Open Source: Python, FastAPI, NetworkX, OSMnx, Leaflet, Local DEM.
Optional Services: OpenWeatherMap, Twilio.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RISKS &amp; FALLBACK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Internet/API failure -&gt; Cached local OSM graph + local DEM (elevation) + local weather JSON.
Lack of real-time hazard data -&gt; Scenario Injector tool.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AFTER THE HACKATHON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Phase 1: Flood prototype (Current MVP)
Phase 2: Integrate remaining multi-hazard layers
Phase 3: Real-time sensor (IoT) data fusion
Phase 4: ML-based predictive modeling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6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6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6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6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6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FRAME 06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IMPACT METRICS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show how the figure was measured, an estimate is fine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502920" y="2057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1F"/>
              </a:buClr>
              <a:buSzPts val="9200"/>
              <a:buFont typeface="Arial Black"/>
              <a:buNone/>
            </a:pPr>
            <a:r>
              <a:rPr lang="en-US" sz="9200">
                <a:solidFill>
                  <a:srgbClr val="FF3D1F"/>
                </a:solidFill>
                <a:latin typeface="Arial Black"/>
                <a:ea typeface="Arial Black"/>
                <a:cs typeface="Arial Black"/>
                <a:sym typeface="Arial Black"/>
              </a:rPr>
              <a:t>&lt; 2 sec</a:t>
            </a:r>
            <a:endParaRPr sz="9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566928" y="382219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ROUTE-LEVEL CLIMATE RISK UPDATE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48640" y="4370832"/>
            <a:ext cx="6172200" cy="166420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868680" y="464515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HOW IT WAS MEASURED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868680" y="4937760"/>
            <a:ext cx="5532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00"/>
              <a:buFont typeface="Arial"/>
              <a:buNone/>
            </a:pPr>
            <a:r>
              <a:rPr i="1" lang="en-US" sz="12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Target: &lt;2 seconds to generate an updated temporal risk profile for a 10 km route using locally cached environmental and geospatial data.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7269480" y="1298448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7488936" y="1499616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7488936" y="1508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7964424" y="1463040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MEASURABLY IMPROVES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7488936" y="1993392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Hyperlocal resolution + prediction performance
50–100 m route segments instead of city-wide estimates. Evaluate predicted vs. observed conditions using appropriate error metrics.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7269480" y="2569464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7488936" y="2770632"/>
            <a:ext cx="347472" cy="347472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7488936" y="277977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7964424" y="2734056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ELSE COULD USE 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7488936" y="3264408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Emergency services, logistics fleets, public transport, municipal planners, delivery networks and outdoor-event planners.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7269480" y="3840480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7488936" y="4041648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7488936" y="40507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7964424" y="4005072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COULD GO WRONG / BE MISUSED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7488936" y="4535424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Predicted risk may be interpreted as a guaranteed statement of safety.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7269480" y="5111496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7488936" y="5312664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7488936" y="53218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7964424" y="5276088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YOU'D HANDLE THAT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7488936" y="5806440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Display risk level + confidence + timestamp + contributing factors, with a clear prototype disclaimer.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7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7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7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07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7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7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07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REFERENCES &amp; ATTRIBUTION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source per line · uncredited work is disqualifying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548640" y="21488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07-A — SOURCES &amp; LICENCES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30936" y="2478024"/>
            <a:ext cx="11091672" cy="33467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5" name="Google Shape;275;p7"/>
          <p:cNvGraphicFramePr/>
          <p:nvPr/>
        </p:nvGraphicFramePr>
        <p:xfrm>
          <a:off x="548640" y="2395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1554475"/>
                <a:gridCol w="3291850"/>
                <a:gridCol w="2651750"/>
                <a:gridCol w="2103125"/>
                <a:gridCol w="1490475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TYPE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SOURCE (AUTHOR, TITLE, YEAR)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WHAT IT GAVE YOU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BORROWED / YOURS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LICENCE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Official PS2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Microsoft Innovation Club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Core requirements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Internal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OpenStreetMap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openstreetmap.org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Street network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ODbL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OSMnx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osmnx.readthedocs.io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Graph extraction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MIT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NetworkX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networkx.org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Spatial segmentation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BSD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Leaflet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leafletjs.com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Map rendering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BSD-2-Clause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" name="Google Shape;282;p8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8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8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08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8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8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08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BROAD SIGNAL TO HYPERLOCAL ACTION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48640" y="1920240"/>
            <a:ext cx="11091672" cy="4206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 txBox="1"/>
          <p:nvPr/>
        </p:nvSpPr>
        <p:spPr>
          <a:xfrm>
            <a:off x="868680" y="2194560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1. User selects route at 4:00 PM. Overall multi-hazard risk profile shows "Moderate".
2. Scenario Injector advances time (+30m). Rain band intersects with low-elevation road segments.
3. System highlights Critical Segment 17 at 4:35 PM due to high flood exposure.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8"/>
          <p:cNvCxnSpPr/>
          <p:nvPr/>
        </p:nvCxnSpPr>
        <p:spPr>
          <a:xfrm>
            <a:off x="1060704" y="553212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8"/>
          <p:cNvCxnSpPr/>
          <p:nvPr/>
        </p:nvCxnSpPr>
        <p:spPr>
          <a:xfrm>
            <a:off x="1060704" y="5724144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8"/>
          <p:cNvSpPr/>
          <p:nvPr/>
        </p:nvSpPr>
        <p:spPr>
          <a:xfrm rot="120000">
            <a:off x="8549640" y="2212848"/>
            <a:ext cx="2788920" cy="14813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 txBox="1"/>
          <p:nvPr/>
        </p:nvSpPr>
        <p:spPr>
          <a:xfrm rot="120000">
            <a:off x="8796528" y="2377440"/>
            <a:ext cx="2514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BEFORE YOU SUBMIT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every bracket filled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diagram replaced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all sources credited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4" name="Google Shape;304;p9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9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9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09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9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9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09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TEAM &amp; CONTACT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line per member · so organisers can reach you after submission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548640" y="1883664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Aracnids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548640" y="234086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09-A — TEAM CONTACT SHEET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630936" y="2679192"/>
            <a:ext cx="11091672" cy="31455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7" name="Google Shape;317;p9"/>
          <p:cNvGraphicFramePr/>
          <p:nvPr/>
        </p:nvGraphicFramePr>
        <p:xfrm>
          <a:off x="548640" y="2596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2926075"/>
                <a:gridCol w="2743200"/>
                <a:gridCol w="542240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NAME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PHONE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EMAIL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Ramalingam A S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6385137682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ramalingam1299@gmail.com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Bharat R J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7904922643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mailtorjb@gmail.com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Dayashankar M B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8925201536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dayashankar1729@gmail.com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R S Arjunkeshav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8939170789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arjunkeshav@gmail.com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S K Jegan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9342292164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jegan.sk2007@gmail.com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8" name="Google Shape;318;p9"/>
          <p:cNvSpPr txBox="1"/>
          <p:nvPr/>
        </p:nvSpPr>
        <p:spPr>
          <a:xfrm>
            <a:off x="548640" y="594360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0972800" y="5870448"/>
            <a:ext cx="365760" cy="365760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0" name="Google Shape;320;p9"/>
          <p:cNvCxnSpPr/>
          <p:nvPr/>
        </p:nvCxnSpPr>
        <p:spPr>
          <a:xfrm>
            <a:off x="11155680" y="5870448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9"/>
          <p:cNvCxnSpPr/>
          <p:nvPr/>
        </p:nvCxnSpPr>
        <p:spPr>
          <a:xfrm>
            <a:off x="11155680" y="6053328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2026-08-26T12:08:21Z</dcterms:created>
  <dc:creator>PptxGenJS</dc:creator>
</cp:coreProperties>
</file>